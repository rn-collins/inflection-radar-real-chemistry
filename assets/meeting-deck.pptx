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30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7F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7040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7F4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signal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7F4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growth decision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 architecture for emerging neuropsychiatry opportunity intelligence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160520"/>
            <a:ext cx="2560320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233672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50–75 COMPANY PILOT</a:t>
            </a:r>
            <a:endParaRPr lang="en-US" sz="680" dirty="0"/>
          </a:p>
        </p:txBody>
      </p:sp>
      <p:sp>
        <p:nvSpPr>
          <p:cNvPr id="7" name="Text 5"/>
          <p:cNvSpPr/>
          <p:nvPr/>
        </p:nvSpPr>
        <p:spPr>
          <a:xfrm>
            <a:off x="548640" y="4800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for Will Hargreaves / Real Chemistry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by Rayven-Nikkita Collins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321040" y="1417320"/>
            <a:ext cx="914400" cy="50292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440" y="1920240"/>
            <a:ext cx="1005840" cy="-50292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0" y="1417320"/>
            <a:ext cx="822960" cy="91440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64240" y="2331720"/>
            <a:ext cx="-457200" cy="91440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7040" y="3246120"/>
            <a:ext cx="-1097280" cy="13716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0" y="3246120"/>
            <a:ext cx="731520" cy="96012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66960" y="4754880"/>
            <a:ext cx="-640080" cy="86868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38560" y="4206240"/>
            <a:ext cx="137160" cy="123444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0748" y="13670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85148" y="186994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90988" y="13670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013948" y="22814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56748" y="31958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59468" y="33329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0748" y="42473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16668" y="47045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88268" y="415594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25428" y="53903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76588" y="557326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Will’s diligence questions, answered directly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94360" y="1874520"/>
            <a:ext cx="3154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187452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20116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0848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758952" y="230428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model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8952" y="2651760"/>
            <a:ext cx="282549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Model-task portfolio, not a black box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97680" y="1874520"/>
            <a:ext cx="3154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187452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0116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34840" y="20848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4462272" y="230428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462272" y="2651760"/>
            <a:ext cx="282549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Visible, classified, testable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001000" y="1874520"/>
            <a:ext cx="3154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01000" y="187452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20116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0" y="20848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8165592" y="230428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165592" y="2651760"/>
            <a:ext cx="282549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path governs use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" y="3291840"/>
            <a:ext cx="3154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" y="329184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75895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58952" y="4069080"/>
            <a:ext cx="282549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Company-level data perimeter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97680" y="3291840"/>
            <a:ext cx="3154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97680" y="329184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3484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446227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Insights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462272" y="4069080"/>
            <a:ext cx="282549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tiers + human review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5800" y="55321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immediate ask is Pilot 1. Not ANATOMI integration. Not production deployment. Not a sample sprint.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1: full universe, real output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1520" y="1920240"/>
            <a:ext cx="2148840" cy="1005840"/>
          </a:xfrm>
          <a:prstGeom prst="roundRect">
            <a:avLst>
              <a:gd name="adj" fmla="val 13636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13969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50–75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77240" y="25786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COMPANY UNIVERSE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66160" y="1920240"/>
            <a:ext cx="2148840" cy="1005840"/>
          </a:xfrm>
          <a:prstGeom prst="roundRect">
            <a:avLst>
              <a:gd name="adj" fmla="val 13636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213969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12–15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3611880" y="25786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ACCOUNTS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920240"/>
            <a:ext cx="2148840" cy="1005840"/>
          </a:xfrm>
          <a:prstGeom prst="roundRect">
            <a:avLst>
              <a:gd name="adj" fmla="val 13636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13969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446520" y="25786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235440" y="1920240"/>
            <a:ext cx="2148840" cy="1005840"/>
          </a:xfrm>
          <a:prstGeom prst="roundRect">
            <a:avLst>
              <a:gd name="adj" fmla="val 13636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35440" y="213969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9281160" y="25786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SYSTEMS NEEDED NOW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005840" y="3886200"/>
            <a:ext cx="46634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3886200"/>
            <a:ext cx="466344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0432" y="4087368"/>
            <a:ext cx="4334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Deliverable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70432" y="4416552"/>
            <a:ext cx="433425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source-linked portfolio, scored dossiers, rejected/deferred log, evidence ledger and recommendation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0" y="3886200"/>
            <a:ext cx="46634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92240" y="3886200"/>
            <a:ext cx="466344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56832" y="4087368"/>
            <a:ext cx="4334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after Pilot 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56832" y="4416552"/>
            <a:ext cx="433425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 internally, institutionalize later or stop cleanly with useful negative learning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are building: a signal-to-decision loop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2514600"/>
            <a:ext cx="1508760" cy="731520"/>
          </a:xfrm>
          <a:prstGeom prst="roundRect">
            <a:avLst>
              <a:gd name="adj" fmla="val 20000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770632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221992" y="2889504"/>
            <a:ext cx="630936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6080" y="2514600"/>
            <a:ext cx="1508760" cy="731520"/>
          </a:xfrm>
          <a:prstGeom prst="roundRect">
            <a:avLst>
              <a:gd name="adj" fmla="val 20000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2770632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462272" y="2889504"/>
            <a:ext cx="630936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66360" y="2514600"/>
            <a:ext cx="1508760" cy="731520"/>
          </a:xfrm>
          <a:prstGeom prst="roundRect">
            <a:avLst>
              <a:gd name="adj" fmla="val 20000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66360" y="2770632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02552" y="2889504"/>
            <a:ext cx="630936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2514600"/>
            <a:ext cx="1508760" cy="731520"/>
          </a:xfrm>
          <a:prstGeom prst="roundRect">
            <a:avLst>
              <a:gd name="adj" fmla="val 20000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770632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942832" y="2889504"/>
            <a:ext cx="630936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46920" y="2514600"/>
            <a:ext cx="1508760" cy="731520"/>
          </a:xfrm>
          <a:prstGeom prst="roundRect">
            <a:avLst>
              <a:gd name="adj" fmla="val 20000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46920" y="2770632"/>
            <a:ext cx="1508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05840" y="429768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is not another analytics platform. It is the method that makes early external company movement legible as a Real Chemistry growth decision.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six signal families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94360" y="1600200"/>
            <a:ext cx="3154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160020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173736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8105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758952" y="202996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+ scientific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8952" y="2377440"/>
            <a:ext cx="28254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trials, results, publications, congress activity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97680" y="1600200"/>
            <a:ext cx="3154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160020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173736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34840" y="18105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4462272" y="202996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462272" y="2377440"/>
            <a:ext cx="28254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FDA, designations, safety, policy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001000" y="1600200"/>
            <a:ext cx="3154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01000" y="160020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173736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0" y="18105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8165592" y="202996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Corporate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165592" y="2377440"/>
            <a:ext cx="28254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financing, leadership, partnerships, restructuring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" y="3291840"/>
            <a:ext cx="3154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" y="329184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75895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readiness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58952" y="4069080"/>
            <a:ext cx="28254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affairs, access, launch and comms hiring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297680" y="3291840"/>
            <a:ext cx="3154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97680" y="329184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3484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S5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446227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+ reputation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462272" y="4069080"/>
            <a:ext cx="28254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media, stigma, policy sensitivity, misinformation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001000" y="3291840"/>
            <a:ext cx="3154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01000" y="329184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3816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3816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S6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816559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Chemistry fit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65592" y="4069080"/>
            <a:ext cx="28254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capability should inspect the signal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hierarchy keeps claims honest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64592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71907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554480" y="1627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/ primary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89120" y="166420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SEC, FDA, ClinicalTrials.gov, USPTO, official company records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26974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7706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554480" y="26791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First-party public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389120" y="27157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company websites, releases, careers, investor pages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74904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82219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554480" y="3730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corroboration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389120" y="376732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reputable media, scholarly metadata, approved licensed sources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" y="48006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8737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554480" y="47823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Analytical inference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389120" y="481888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service-need hypothesis and timing interpretation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layers prevent false precision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77240" y="1920240"/>
            <a:ext cx="47548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1920240"/>
            <a:ext cx="47548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20574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1305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941832" y="2350008"/>
            <a:ext cx="4425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opportunity score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41832" y="2697480"/>
            <a:ext cx="442569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observable evidence: timing, evidence, service need, complexity, strategic fit, visibility and risk-adjusted viability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29400" y="1920240"/>
            <a:ext cx="47548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1920240"/>
            <a:ext cx="47548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0" y="20574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1305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6793992" y="2350008"/>
            <a:ext cx="4425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pursuit viability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793992" y="2697480"/>
            <a:ext cx="442569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Chemistry-only context: clients, conflicts, prior pursuit, relationships, owners, economics, practice priorities and capacity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23560" y="2697480"/>
            <a:ext cx="86868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29000" y="438912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29000" y="4389120"/>
            <a:ext cx="512064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93592" y="459028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portfolio decision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93592" y="4919472"/>
            <a:ext cx="4791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advance, defer, monitor or exclude, with reasons recorded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assists bounded tasks. Humans own decisions.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868680" y="1920240"/>
            <a:ext cx="3063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1920240"/>
            <a:ext cx="306324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" y="2121408"/>
            <a:ext cx="2734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33272" y="2450592"/>
            <a:ext cx="2734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extraction, classification, duplicate support, contradiction detection, draft synthesis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0" y="1920240"/>
            <a:ext cx="3063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1920240"/>
            <a:ext cx="306324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36592" y="2121408"/>
            <a:ext cx="2734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36592" y="2450592"/>
            <a:ext cx="2734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register, data schema, weights, IDs, date rules, citation links, versions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275320" y="1920240"/>
            <a:ext cx="3063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75320" y="1920240"/>
            <a:ext cx="306324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39912" y="2121408"/>
            <a:ext cx="2734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Human-only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39912" y="2450592"/>
            <a:ext cx="27340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company inclusion, signal meaning, score override, service fit, final portfolio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05840" y="48006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answers the model question without pretending one model can make a healthcare commercialization decision.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is a path, not a source label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943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664208" y="2990088"/>
            <a:ext cx="512064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945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264408" y="2990088"/>
            <a:ext cx="512064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947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864608" y="2990088"/>
            <a:ext cx="512064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949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464808" y="2990088"/>
            <a:ext cx="512064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951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51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065008" y="2990088"/>
            <a:ext cx="512064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665208" y="2990088"/>
            <a:ext cx="512064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95560" y="2743200"/>
            <a:ext cx="1051560" cy="502920"/>
          </a:xfrm>
          <a:prstGeom prst="roundRect">
            <a:avLst>
              <a:gd name="adj" fmla="val 21818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95560" y="291693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822960" y="448056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4480560"/>
            <a:ext cx="512064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7552" y="468172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 default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87552" y="5010912"/>
            <a:ext cx="47914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official, first-party and permitted public sources; structured facts; source-linked claims; no unapproved scraping or restricted licensed-source ingestion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00800" y="448056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0" y="4480560"/>
            <a:ext cx="493776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65392" y="4681728"/>
            <a:ext cx="4608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internal default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565392" y="5010912"/>
            <a:ext cx="46085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Chemistry-approved workspace, models, entitlements, review process, retention and routing rules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safeguards are built into scope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600200"/>
            <a:ext cx="3154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160020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173736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105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850392" y="202996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Company-level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0392" y="2377440"/>
            <a:ext cx="2825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patient-level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89120" y="1600200"/>
            <a:ext cx="3154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89120" y="160020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173736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18105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4553712" y="202996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PHI needed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53712" y="2377440"/>
            <a:ext cx="2825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Pilot 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092440" y="1600200"/>
            <a:ext cx="3154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92440" y="160020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173736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0" y="181051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8257032" y="202996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firewall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57032" y="2377440"/>
            <a:ext cx="2825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triggered internally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85800" y="3291840"/>
            <a:ext cx="3154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29184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85039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inheritance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50392" y="4069080"/>
            <a:ext cx="2825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restrictions travel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89120" y="3291840"/>
            <a:ext cx="3154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329184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2628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C5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455371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553712" y="4069080"/>
            <a:ext cx="2825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+ reviewer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092440" y="3291840"/>
            <a:ext cx="3154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2440" y="329184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0" y="34290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29600" y="35021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C6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8257032" y="37216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autonomous decisions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257032" y="4069080"/>
            <a:ext cx="2825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only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around what Real Chemistry already has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874520"/>
            <a:ext cx="34290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1874520"/>
            <a:ext cx="342900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2075688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 ingredients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" y="2404872"/>
            <a:ext cx="30998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ANATOMI, HealthGEO, ReputAI, Analytics &amp; Insights, agentic workflows, AI assistants, revenue/growth leadership, medical/comms/media/access capabilities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89120" y="1874520"/>
            <a:ext cx="34290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0" y="1874520"/>
            <a:ext cx="342900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2075688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white space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53712" y="2404872"/>
            <a:ext cx="30998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materials do not document a unified emerging-company prospect universe, service-need map, internal viability layer or win/loss learning loop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92440" y="1874520"/>
            <a:ext cx="34290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92440" y="1874520"/>
            <a:ext cx="342900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2075688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 role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57032" y="2404872"/>
            <a:ext cx="30998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external evidence and opportunity map first; let Real Chemistry decide whether to calibrate or institutionalize 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4892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explain Real Chemistry back to Real Chemistry. Show how the design complements the ecosystem.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pass-around map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40080" y="150876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508760"/>
            <a:ext cx="233172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164592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71907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804672" y="193852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Will / Growth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4672" y="228600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usefulness + decision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520440" y="150876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1508760"/>
            <a:ext cx="233172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164592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171907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3685032" y="193852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85032" y="228600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qualification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0" y="150876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1508760"/>
            <a:ext cx="233172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37960" y="164592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171907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6565392" y="193852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65392" y="228600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signals + validation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281160" y="150876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81160" y="1508760"/>
            <a:ext cx="233172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18320" y="164592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18320" y="171907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9445752" y="193852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445752" y="228600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host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008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3246120"/>
            <a:ext cx="233172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7240" y="33832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34564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804672" y="367588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/ Privacy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04672" y="402336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5204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246120"/>
            <a:ext cx="233172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0" y="33832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0" y="34564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3685032" y="367588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/ Resolve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685032" y="402336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meaning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0080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0" y="3246120"/>
            <a:ext cx="233172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37960" y="33832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37960" y="34564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6565392" y="367588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/ Media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565392" y="402336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fit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28116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81160" y="3246120"/>
            <a:ext cx="233172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18320" y="338328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418320" y="345643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445752" y="3675888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/ Tech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9445752" y="4023360"/>
            <a:ext cx="2002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integration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 → Qualify → Institutionalize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92024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1920240"/>
            <a:ext cx="320040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0574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1305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850392" y="2350008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0392" y="2697480"/>
            <a:ext cx="2871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1: 50–75 company universe, 12–15 priority accounts, external opportunity score, dossiers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80560" y="192024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80560" y="1920240"/>
            <a:ext cx="320040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7720" y="20574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21305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4645152" y="2350008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Qualify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2697480"/>
            <a:ext cx="2871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Calibration: internal criteria, exclusions, conflicts, prior pursuit, service taxonomy, practice review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275320" y="192024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1920240"/>
            <a:ext cx="320040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0" y="2057400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EFEADF"/>
          </a:solidFill>
          <a:ln w="12700">
            <a:solidFill>
              <a:srgbClr val="EFEA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2130552"/>
            <a:ext cx="594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8439912" y="2350008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Institutionalize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439912" y="2697480"/>
            <a:ext cx="2871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System: recurring monitoring, CRM connection, review queues, ANATOMI/workspace integration, outcome learning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Real Chemistry provides—and how it is used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69164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169164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18928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" y="2221992"/>
            <a:ext cx="28254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 / defines universe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89120" y="169164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0" y="169164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18928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priorities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53712" y="2221992"/>
            <a:ext cx="28254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 / maps relevance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92440" y="169164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92440" y="169164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8928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Client/pursuit exclusions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57032" y="2221992"/>
            <a:ext cx="28254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Calibration / removes false positives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800" y="329184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329184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34930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rules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0392" y="3822192"/>
            <a:ext cx="28254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Calibration / governs viability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89120" y="329184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89120" y="329184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53712" y="34930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+ outcomes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3822192"/>
            <a:ext cx="28254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/ enables learning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092440" y="329184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92440" y="329184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349300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ANATOMI architecture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57032" y="3822192"/>
            <a:ext cx="28254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/ selects host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Eight-week Pilot 1 plan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9436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1264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+ SCHEMA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201168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02996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DISCOVERY</a:t>
            </a:r>
            <a:endParaRPr lang="en-US" sz="580" dirty="0"/>
          </a:p>
        </p:txBody>
      </p:sp>
      <p:sp>
        <p:nvSpPr>
          <p:cNvPr id="22" name="Shape 20"/>
          <p:cNvSpPr/>
          <p:nvPr/>
        </p:nvSpPr>
        <p:spPr>
          <a:xfrm>
            <a:off x="342900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2900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4728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BUILD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484632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86460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EXTRACTION</a:t>
            </a:r>
            <a:endParaRPr lang="en-US" sz="580" dirty="0"/>
          </a:p>
        </p:txBody>
      </p:sp>
      <p:sp>
        <p:nvSpPr>
          <p:cNvPr id="28" name="Shape 26"/>
          <p:cNvSpPr/>
          <p:nvPr/>
        </p:nvSpPr>
        <p:spPr>
          <a:xfrm>
            <a:off x="626364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28192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SCORING + REVIEW</a:t>
            </a:r>
            <a:endParaRPr lang="en-US" sz="580" dirty="0"/>
          </a:p>
        </p:txBody>
      </p:sp>
      <p:sp>
        <p:nvSpPr>
          <p:cNvPr id="31" name="Shape 29"/>
          <p:cNvSpPr/>
          <p:nvPr/>
        </p:nvSpPr>
        <p:spPr>
          <a:xfrm>
            <a:off x="768096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69924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DOSSIER DRAFTING</a:t>
            </a:r>
            <a:endParaRPr lang="en-US" sz="580" dirty="0"/>
          </a:p>
        </p:txBody>
      </p:sp>
      <p:sp>
        <p:nvSpPr>
          <p:cNvPr id="34" name="Shape 32"/>
          <p:cNvSpPr/>
          <p:nvPr/>
        </p:nvSpPr>
        <p:spPr>
          <a:xfrm>
            <a:off x="909828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9828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11656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ASSEMBLY</a:t>
            </a:r>
            <a:endParaRPr lang="en-US" sz="580" dirty="0"/>
          </a:p>
        </p:txBody>
      </p:sp>
      <p:sp>
        <p:nvSpPr>
          <p:cNvPr id="37" name="Shape 35"/>
          <p:cNvSpPr/>
          <p:nvPr/>
        </p:nvSpPr>
        <p:spPr>
          <a:xfrm>
            <a:off x="10515600" y="2743200"/>
            <a:ext cx="1051560" cy="731520"/>
          </a:xfrm>
          <a:prstGeom prst="roundRect">
            <a:avLst>
              <a:gd name="adj" fmla="val 16250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515600" y="28529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10533888" y="3154680"/>
            <a:ext cx="1014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14400" y="4572000"/>
            <a:ext cx="4663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4400" y="4572000"/>
            <a:ext cx="466344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8992" y="4773168"/>
            <a:ext cx="4334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Weekly operating rhythm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78992" y="5102352"/>
            <a:ext cx="4334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update memo, source additions, blockers, unresolved assumptions, quality checks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92240" y="4572000"/>
            <a:ext cx="4663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92240" y="4572000"/>
            <a:ext cx="466344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56832" y="4773168"/>
            <a:ext cx="4334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handoff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56832" y="5102352"/>
            <a:ext cx="4334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deck, dossiers, source register, assumption register, score sheet, rejected/deferred log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dossier anatomy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82880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05740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SNAPSHOT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2971800" y="182880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0" y="205740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5257800" y="182880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0" y="205740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CLINICAL/REGULATORY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543800" y="182880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205740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CORPORATE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9829800" y="182880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0" y="205740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READINESS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685800" y="306324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29184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971800" y="306324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329184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 RELEVANCE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257800" y="306324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0" y="329184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543800" y="306324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29184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QUESTIONS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9829800" y="3063240"/>
            <a:ext cx="1691640" cy="594360"/>
          </a:xfrm>
          <a:prstGeom prst="roundRect">
            <a:avLst>
              <a:gd name="adj" fmla="val 18462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875520" y="3291840"/>
            <a:ext cx="1600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05840" y="489204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dossier follows the same chain: source → fact → signal → inflection hypothesis → Real Chemistry relevance → internal question.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E9E4D7"/>
          </a:solidFill>
          <a:ln w="12700">
            <a:solidFill>
              <a:srgbClr val="E9E4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680" dirty="0"/>
          </a:p>
        </p:txBody>
      </p:sp>
      <p:sp>
        <p:nvSpPr>
          <p:cNvPr id="5" name="Shape 3"/>
          <p:cNvSpPr/>
          <p:nvPr/>
        </p:nvSpPr>
        <p:spPr>
          <a:xfrm>
            <a:off x="146304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1</a:t>
            </a:r>
            <a:endParaRPr lang="en-US" sz="68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34340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5303520" y="10058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7373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02920" y="71323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pilot proves value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85800" y="178308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178308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198424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quality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" y="2313432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citation accuracy, source coverage, contradiction flags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89120" y="178308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89120" y="178308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198424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quality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53712" y="2313432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 positives, reviewer usefulness, reasons to advance/defer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92440" y="178308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92440" y="1783080"/>
            <a:ext cx="3154680" cy="64008"/>
          </a:xfrm>
          <a:prstGeom prst="rect">
            <a:avLst/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relevance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57032" y="2313432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service-fit clarity, timing insight, account-review value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800" y="338328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3383280"/>
            <a:ext cx="3154680" cy="64008"/>
          </a:xfrm>
          <a:prstGeom prst="rect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358444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0392" y="3913632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permissions, audit, restricted-source handling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89120" y="3383280"/>
            <a:ext cx="3154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89120" y="3383280"/>
            <a:ext cx="3154680" cy="64008"/>
          </a:xfrm>
          <a:prstGeom prst="rect">
            <a:avLst/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53712" y="3584448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3913632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signals predicted interest or rejection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6B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8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7F4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55448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7F4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Pilot 1 scope and the minimal inputs needed to make the external portfolio useful.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425196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3251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680" dirty="0"/>
          </a:p>
        </p:txBody>
      </p:sp>
      <p:sp>
        <p:nvSpPr>
          <p:cNvPr id="6" name="Shape 4"/>
          <p:cNvSpPr/>
          <p:nvPr/>
        </p:nvSpPr>
        <p:spPr>
          <a:xfrm>
            <a:off x="2834640" y="425196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43251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READER</a:t>
            </a:r>
            <a:endParaRPr lang="en-US" sz="680" dirty="0"/>
          </a:p>
        </p:txBody>
      </p:sp>
      <p:sp>
        <p:nvSpPr>
          <p:cNvPr id="8" name="Shape 6"/>
          <p:cNvSpPr/>
          <p:nvPr/>
        </p:nvSpPr>
        <p:spPr>
          <a:xfrm>
            <a:off x="4983480" y="425196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D7FF64"/>
          </a:solidFill>
          <a:ln w="12700">
            <a:solidFill>
              <a:srgbClr val="D7FF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43251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PRIORITIES</a:t>
            </a:r>
            <a:endParaRPr lang="en-US" sz="680" dirty="0"/>
          </a:p>
        </p:txBody>
      </p:sp>
      <p:sp>
        <p:nvSpPr>
          <p:cNvPr id="10" name="Shape 8"/>
          <p:cNvSpPr/>
          <p:nvPr/>
        </p:nvSpPr>
        <p:spPr>
          <a:xfrm>
            <a:off x="7132320" y="425196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3251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SUCCESS CRITERIA</a:t>
            </a:r>
            <a:endParaRPr lang="en-US" sz="680" dirty="0"/>
          </a:p>
        </p:txBody>
      </p:sp>
      <p:sp>
        <p:nvSpPr>
          <p:cNvPr id="12" name="Shape 10"/>
          <p:cNvSpPr/>
          <p:nvPr/>
        </p:nvSpPr>
        <p:spPr>
          <a:xfrm>
            <a:off x="9281160" y="4251960"/>
            <a:ext cx="1645920" cy="310896"/>
          </a:xfrm>
          <a:prstGeom prst="roundRect">
            <a:avLst>
              <a:gd name="adj" fmla="val 23529"/>
            </a:avLst>
          </a:prstGeom>
          <a:solidFill>
            <a:srgbClr val="00B7D8"/>
          </a:solidFill>
          <a:ln w="12700">
            <a:solidFill>
              <a:srgbClr val="00B7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43251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INTEGRATION PATH</a:t>
            </a:r>
            <a:endParaRPr lang="en-US" sz="680" dirty="0"/>
          </a:p>
        </p:txBody>
      </p:sp>
      <p:sp>
        <p:nvSpPr>
          <p:cNvPr id="14" name="Shape 12"/>
          <p:cNvSpPr/>
          <p:nvPr/>
        </p:nvSpPr>
        <p:spPr>
          <a:xfrm>
            <a:off x="8321040" y="1417320"/>
            <a:ext cx="914400" cy="50292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0" y="1920240"/>
            <a:ext cx="1005840" cy="-50292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41280" y="1417320"/>
            <a:ext cx="822960" cy="91440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064240" y="2331720"/>
            <a:ext cx="-457200" cy="91440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07040" y="3246120"/>
            <a:ext cx="-1097280" cy="13716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07040" y="3246120"/>
            <a:ext cx="731520" cy="96012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66960" y="4754880"/>
            <a:ext cx="-640080" cy="86868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38560" y="4206240"/>
            <a:ext cx="137160" cy="1234440"/>
          </a:xfrm>
          <a:prstGeom prst="line">
            <a:avLst/>
          </a:prstGeom>
          <a:noFill/>
          <a:ln w="8890">
            <a:solidFill>
              <a:srgbClr val="B7FF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0748" y="13670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85148" y="186994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90988" y="13670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013948" y="22814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56748" y="319582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59468" y="33329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70748" y="42473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16668" y="47045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88268" y="415594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25428" y="539038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76588" y="5573268"/>
            <a:ext cx="100584" cy="100584"/>
          </a:xfrm>
          <a:prstGeom prst="ellipse">
            <a:avLst/>
          </a:prstGeom>
          <a:solidFill>
            <a:srgbClr val="B7FF2A"/>
          </a:solidFill>
          <a:ln w="12700">
            <a:solidFill>
              <a:srgbClr val="B7FF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6547104"/>
            <a:ext cx="3108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INFLECTION RADAR / RN COLLINS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11448288" y="654710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50" dirty="0">
                <a:solidFill>
                  <a:srgbClr val="D8D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RN Collins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Inflection Radar</dc:title>
  <dc:subject>Inflection Radar / Real Chemistry Pilot 1</dc:subject>
  <dc:creator>Rayven-Nikkita Collins</dc:creator>
  <cp:lastModifiedBy>Rayven-Nikkita Collins</cp:lastModifiedBy>
  <cp:revision>1</cp:revision>
  <dcterms:created xsi:type="dcterms:W3CDTF">2026-07-28T01:22:58Z</dcterms:created>
  <dcterms:modified xsi:type="dcterms:W3CDTF">2026-07-28T01:22:58Z</dcterms:modified>
</cp:coreProperties>
</file>