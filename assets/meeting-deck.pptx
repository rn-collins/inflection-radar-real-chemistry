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7263e2c7914c66" /><Relationship Type="http://schemas.openxmlformats.org/officeDocument/2006/relationships/extended-properties" Target="/docProps/app.xml" Id="Raf1735cb24784ce6" /><Relationship Type="http://schemas.openxmlformats.org/officeDocument/2006/relationships/officeDocument" Target="/ppt/presentation.xml" Id="R4beb135961e9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bcee2acc404dc3"/>
  </p:sldMasterIdLst>
  <p:notesMasterIdLst>
    <p:notesMasterId xmlns:r="http://schemas.openxmlformats.org/officeDocument/2006/relationships" r:id="Rbe9d10af27c24039"/>
  </p:notesMasterIdLst>
  <p:sldIdLst>
    <p:sldId xmlns:r="http://schemas.openxmlformats.org/officeDocument/2006/relationships" id="256" r:id="R8ba034ed6a1a4ec9"/>
    <p:sldId xmlns:r="http://schemas.openxmlformats.org/officeDocument/2006/relationships" id="257" r:id="R63214e2ad7bb49fe"/>
    <p:sldId xmlns:r="http://schemas.openxmlformats.org/officeDocument/2006/relationships" id="258" r:id="R5731a15bbb8a41b3"/>
    <p:sldId xmlns:r="http://schemas.openxmlformats.org/officeDocument/2006/relationships" id="259" r:id="R85dc2a4454fd4888"/>
    <p:sldId xmlns:r="http://schemas.openxmlformats.org/officeDocument/2006/relationships" id="260" r:id="R705b4f6caef045cc"/>
    <p:sldId xmlns:r="http://schemas.openxmlformats.org/officeDocument/2006/relationships" id="261" r:id="R53624f69f6d840f0"/>
    <p:sldId xmlns:r="http://schemas.openxmlformats.org/officeDocument/2006/relationships" id="262" r:id="Rf3603be7d3954221"/>
    <p:sldId xmlns:r="http://schemas.openxmlformats.org/officeDocument/2006/relationships" id="263" r:id="R676794b6a49f4265"/>
    <p:sldId xmlns:r="http://schemas.openxmlformats.org/officeDocument/2006/relationships" id="264" r:id="R6faa9b4ddf27422f"/>
    <p:sldId xmlns:r="http://schemas.openxmlformats.org/officeDocument/2006/relationships" id="265" r:id="Rb79289dbafde49ad"/>
    <p:sldId xmlns:r="http://schemas.openxmlformats.org/officeDocument/2006/relationships" id="266" r:id="R99614700650f43e8"/>
    <p:sldId xmlns:r="http://schemas.openxmlformats.org/officeDocument/2006/relationships" id="267" r:id="R02fe0d95aaf741c8"/>
    <p:sldId xmlns:r="http://schemas.openxmlformats.org/officeDocument/2006/relationships" id="268" r:id="Rbfbfc58bb4ba49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009b3a34a4573" /><Relationship Type="http://schemas.openxmlformats.org/officeDocument/2006/relationships/slideMaster" Target="/ppt/slideMasters/slideMaster1.xml" Id="Rf1bcee2acc404dc3" /><Relationship Type="http://schemas.openxmlformats.org/officeDocument/2006/relationships/notesMaster" Target="/ppt/notesMasters/notesMaster1.xml" Id="Rbe9d10af27c24039" /><Relationship Type="http://schemas.openxmlformats.org/officeDocument/2006/relationships/presProps" Target="/ppt/presProps.xml" Id="Rc26a1ce6d6634b50" /><Relationship Type="http://schemas.openxmlformats.org/officeDocument/2006/relationships/tableStyles" Target="/ppt/tableStyles.xml" Id="R0585a2cef5ff4181" /><Relationship Type="http://schemas.openxmlformats.org/officeDocument/2006/relationships/slide" Target="/ppt/slides/slide1.xml" Id="R8ba034ed6a1a4ec9" /><Relationship Type="http://schemas.openxmlformats.org/officeDocument/2006/relationships/slide" Target="/ppt/slides/slide2.xml" Id="R63214e2ad7bb49fe" /><Relationship Type="http://schemas.openxmlformats.org/officeDocument/2006/relationships/slide" Target="/ppt/slides/slide3.xml" Id="R5731a15bbb8a41b3" /><Relationship Type="http://schemas.openxmlformats.org/officeDocument/2006/relationships/slide" Target="/ppt/slides/slide4.xml" Id="R85dc2a4454fd4888" /><Relationship Type="http://schemas.openxmlformats.org/officeDocument/2006/relationships/slide" Target="/ppt/slides/slide5.xml" Id="R705b4f6caef045cc" /><Relationship Type="http://schemas.openxmlformats.org/officeDocument/2006/relationships/slide" Target="/ppt/slides/slide6.xml" Id="R53624f69f6d840f0" /><Relationship Type="http://schemas.openxmlformats.org/officeDocument/2006/relationships/slide" Target="/ppt/slides/slide7.xml" Id="Rf3603be7d3954221" /><Relationship Type="http://schemas.openxmlformats.org/officeDocument/2006/relationships/slide" Target="/ppt/slides/slide8.xml" Id="R676794b6a49f4265" /><Relationship Type="http://schemas.openxmlformats.org/officeDocument/2006/relationships/slide" Target="/ppt/slides/slide9.xml" Id="R6faa9b4ddf27422f" /><Relationship Type="http://schemas.openxmlformats.org/officeDocument/2006/relationships/slide" Target="/ppt/slides/slide10.xml" Id="Rb79289dbafde49ad" /><Relationship Type="http://schemas.openxmlformats.org/officeDocument/2006/relationships/slide" Target="/ppt/slides/slide11.xml" Id="R99614700650f43e8" /><Relationship Type="http://schemas.openxmlformats.org/officeDocument/2006/relationships/slide" Target="/ppt/slides/slide12.xml" Id="R02fe0d95aaf741c8" /><Relationship Type="http://schemas.openxmlformats.org/officeDocument/2006/relationships/slide" Target="/ppt/slides/slide13.xml" Id="Rbfbfc58bb4ba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f75bbc9e1f4f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78d732c49045c6" /><Relationship Type="http://schemas.openxmlformats.org/officeDocument/2006/relationships/notesMaster" Target="/ppt/notesMasters/notesMaster1.xml" Id="R23b10b6253a04a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61424385b341fd" /><Relationship Type="http://schemas.openxmlformats.org/officeDocument/2006/relationships/notesMaster" Target="/ppt/notesMasters/notesMaster1.xml" Id="Rf49b9a295145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584d9672c4656" /><Relationship Type="http://schemas.openxmlformats.org/officeDocument/2006/relationships/notesMaster" Target="/ppt/notesMasters/notesMaster1.xml" Id="R3247e987018147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7d5bcdcc24876" /><Relationship Type="http://schemas.openxmlformats.org/officeDocument/2006/relationships/notesMaster" Target="/ppt/notesMasters/notesMaster1.xml" Id="R7384faf2ffba45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4b4f344a274c49" /><Relationship Type="http://schemas.openxmlformats.org/officeDocument/2006/relationships/notesMaster" Target="/ppt/notesMasters/notesMaster1.xml" Id="R14d839d949da45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0737e637924004" /><Relationship Type="http://schemas.openxmlformats.org/officeDocument/2006/relationships/notesMaster" Target="/ppt/notesMasters/notesMaster1.xml" Id="Rce1ede0f22134e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6e78dad016490c" /><Relationship Type="http://schemas.openxmlformats.org/officeDocument/2006/relationships/notesMaster" Target="/ppt/notesMasters/notesMaster1.xml" Id="R4d0842c6dd8c49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7689a51d6495b" /><Relationship Type="http://schemas.openxmlformats.org/officeDocument/2006/relationships/notesMaster" Target="/ppt/notesMasters/notesMaster1.xml" Id="R1093f60140574c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4cfd32cc0b4d62" /><Relationship Type="http://schemas.openxmlformats.org/officeDocument/2006/relationships/notesMaster" Target="/ppt/notesMasters/notesMaster1.xml" Id="R3ce46093072c49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0b48165126429f" /><Relationship Type="http://schemas.openxmlformats.org/officeDocument/2006/relationships/notesMaster" Target="/ppt/notesMasters/notesMaster1.xml" Id="Re3d5a16fcc0b45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e7b367105c42ce" /><Relationship Type="http://schemas.openxmlformats.org/officeDocument/2006/relationships/notesMaster" Target="/ppt/notesMasters/notesMaster1.xml" Id="Re7705ab05bf949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14720f475843b2" /><Relationship Type="http://schemas.openxmlformats.org/officeDocument/2006/relationships/notesMaster" Target="/ppt/notesMasters/notesMaster1.xml" Id="R41b665792b5843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e39a15c6894a95" /><Relationship Type="http://schemas.openxmlformats.org/officeDocument/2006/relationships/notesMaster" Target="/ppt/notesMasters/notesMaster1.xml" Id="R72e1b2a57c6e45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a decision meeting, not a product demo. The pilot is a complete external research engagement; later integration is conditional.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scope, intended reader, public service priorities, and success standard. Explicitly state what approval does not include.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unpack all mechanics here. This slide proves the diligence points were heard and answered. The next slides show the protected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evidence cannot establish clients, conflicts, active pursuits, relationships, economics, ownership, or practice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portfolio may include hypotheses, but they remain labeled hypotheses. The evidentiary foundation is primary sources and validated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selection depends on sensitivity, restrictions, provider terms, retention, training use, accuracy, observability, security, cost, performance, and suitability.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derived field does not become unrestricted because a model produced it. Later internal work uses Real Chemistry-approved entitlements, systems, retention, and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convert 'not publicly evidenced' into 'does not exist.' Invite internal confirmation and duplication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Discover is in scope now. Qualify requires internal commercial context. Institutionalize requires ownership, approved systems, data, monitoring, and maintenance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handoff includes the account portfolio, dossiers, evidence and permission records, assumption and model-task registers, rejected/deferred list, evaluation, and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dossier should expose the source-to-decision chain, evidence tier, restrictions, contradictions, score rationale, reviewer questions, and disposition.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portfolio with simple baselines such as financing and clinical-stage lists and, if safely available, an internal target list. The method must add judgment,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confirming the four immediate inputs. If Will wants technical questions explored now, capture them as discovery items without making them prerequisites for the external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Inflection Radar internal report and public-source capability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5ae79bcf9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e5b74d8924a7e" /><Relationship Type="http://schemas.openxmlformats.org/officeDocument/2006/relationships/slideLayout" Target="/ppt/slideLayouts/slideLayout1.xml" Id="R75da06ab02844e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a06ab02844e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2db328e1b4b40" /><Relationship Type="http://schemas.openxmlformats.org/officeDocument/2006/relationships/notesSlide" Target="/ppt/notesSlides/notesSlide1.xml" Id="Rb7d961caf6e34b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96fa67e8a44f4" /><Relationship Type="http://schemas.openxmlformats.org/officeDocument/2006/relationships/notesSlide" Target="/ppt/notesSlides/notesSlide2.xml" Id="R8bf90d08109149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8cb010cad475e" /><Relationship Type="http://schemas.openxmlformats.org/officeDocument/2006/relationships/notesSlide" Target="/ppt/notesSlides/notesSlide3.xml" Id="Reee020971f7840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4a48f3d084a58" /><Relationship Type="http://schemas.openxmlformats.org/officeDocument/2006/relationships/notesSlide" Target="/ppt/notesSlides/notesSlide4.xml" Id="Ra71f15151c38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92452f7914d29" /><Relationship Type="http://schemas.openxmlformats.org/officeDocument/2006/relationships/notesSlide" Target="/ppt/notesSlides/notesSlide5.xml" Id="Rdf1929571f3f47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97f188b8d4ddf" /><Relationship Type="http://schemas.openxmlformats.org/officeDocument/2006/relationships/notesSlide" Target="/ppt/notesSlides/notesSlide6.xml" Id="R4db4532ff6a2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09b906d8446c0" /><Relationship Type="http://schemas.openxmlformats.org/officeDocument/2006/relationships/notesSlide" Target="/ppt/notesSlides/notesSlide7.xml" Id="R811e6136282f4c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8ca1a99e14dc5" /><Relationship Type="http://schemas.openxmlformats.org/officeDocument/2006/relationships/notesSlide" Target="/ppt/notesSlides/notesSlide8.xml" Id="R1bcbd23f68aa4b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7fdaf43e447d2" /><Relationship Type="http://schemas.openxmlformats.org/officeDocument/2006/relationships/notesSlide" Target="/ppt/notesSlides/notesSlide9.xml" Id="R5664ea1fca0b4b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2742c6af48a4" /><Relationship Type="http://schemas.openxmlformats.org/officeDocument/2006/relationships/notesSlide" Target="/ppt/notesSlides/notesSlide10.xml" Id="Reac3786c9dc14a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ff57f9ee6412c" /><Relationship Type="http://schemas.openxmlformats.org/officeDocument/2006/relationships/notesSlide" Target="/ppt/notesSlides/notesSlide11.xml" Id="Ree4685d6ca9c45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be61fc64e4803" /><Relationship Type="http://schemas.openxmlformats.org/officeDocument/2006/relationships/notesSlide" Target="/ppt/notesSlides/notesSlide12.xml" Id="R1a4bae8af24542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9faa96b424dc0" /><Relationship Type="http://schemas.openxmlformats.org/officeDocument/2006/relationships/notesSlide" Target="/ppt/notesSlides/notesSlide13.xml" Id="R085e81dfe8cd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DED6B1-D9E1-47CD-B79D-95620D0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9AC4D-6F27-4DE6-B9D5-A9DB54FE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E6D6"/>
                </a:solidFill>
              </a:defRPr>
            </a:pPr>
            <a:r>
              <a:rPr sz="1050" b="1">
                <a:solidFill>
                  <a:srgbClr val="A8E6D6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A3C53-1B96-4F66-B25A-28E05083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From signal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to growth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75319-1506-4CFF-9A8D-D5BE10C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C8688-F901-49EB-A86D-16B06364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Pilot 1 architecture for emerging neuropsychiatry opportunity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D5641-1086-431D-A7A1-36440E22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143000"/>
            <a:ext cx="2000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962B5-856D-444F-B170-E1DDCB3B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049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50–75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E40DA-7E33-4E4C-9834-F226B895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E6D6"/>
                </a:solidFill>
              </a:defRPr>
            </a:pPr>
            <a:r>
              <a:rPr sz="1350" b="1">
                <a:solidFill>
                  <a:srgbClr val="A8E6D6"/>
                </a:solidFill>
              </a:rPr>
              <a:t>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35E70-013F-43E6-98FA-509B5313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12–15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priority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F00DC-25C8-40C1-BC87-EEF7F54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6D2"/>
                </a:solidFill>
              </a:defRPr>
            </a:pPr>
            <a:r>
              <a:rPr sz="1050" b="0">
                <a:solidFill>
                  <a:srgbClr val="C8D6D2"/>
                </a:solidFill>
              </a:rPr>
              <a:t>Prepared for Will Hargreaves / Real Chemistry</a:t>
            </a:r>
          </a:p>
          <a:p xmlns:a="http://schemas.openxmlformats.org/drawingml/2006/main">
            <a:pPr algn="l">
              <a:defRPr sz="1050" b="0">
                <a:solidFill>
                  <a:srgbClr val="C8D6D2"/>
                </a:solidFill>
              </a:defRPr>
            </a:pPr>
            <a:r>
              <a:rPr sz="1050" b="0">
                <a:solidFill>
                  <a:srgbClr val="C8D6D2"/>
                </a:solidFill>
              </a:rPr>
              <a:t>Rayven-Nikkita Collins • 28 July 2026</a:t>
            </a:r>
          </a:p>
        </p:txBody>
      </p:sp>
    </p:spTree>
    <p:extLst>
      <p:ext uri="{BB962C8B-B14F-4D97-AF65-F5344CB8AC3E}">
        <p14:creationId xmlns:p14="http://schemas.microsoft.com/office/powerpoint/2010/main" val="1761775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4E297-B5F2-4224-BA70-9BDB0AD2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E6B22-EE64-4658-805F-A33F4788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94BB4-9BE8-43F4-AD96-F74A5949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36C41-B614-4433-B671-B8C796C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F4FD8-90B5-4B42-A0DF-5512BB9D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38D45-6319-40F1-90AE-D79D3C7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9EF8B-8C70-4DDA-BBC7-31C5B11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The decision on the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355A8-FE41-4072-BA5C-34ECBC55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Approve Pilot 1 scope and the smallest set of inputs needed to make its portfolio useful.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9484B-CC6B-41AB-8F6D-D78905C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65E6-EDBA-49F3-BC35-40D0C794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858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F0658-CAD4-4F80-9914-50247CB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PROCEED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E44D5-1DD0-45FF-AE20-2B351249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42B"/>
                </a:solidFill>
              </a:defRPr>
            </a:pPr>
            <a:r>
              <a:rPr sz="2325" b="1">
                <a:solidFill>
                  <a:srgbClr val="14242B"/>
                </a:solidFill>
              </a:rPr>
              <a:t>Eight weeks</a:t>
            </a:r>
          </a:p>
          <a:p xmlns:a="http://schemas.openxmlformats.org/drawingml/2006/main">
            <a:pPr algn="l">
              <a:defRPr sz="2325" b="1">
                <a:solidFill>
                  <a:srgbClr val="14242B"/>
                </a:solidFill>
              </a:defRPr>
            </a:pPr>
            <a:r>
              <a:rPr sz="2325" b="1">
                <a:solidFill>
                  <a:srgbClr val="14242B"/>
                </a:solidFill>
              </a:rPr>
              <a:t>50–75-company universe</a:t>
            </a:r>
          </a:p>
          <a:p xmlns:a="http://schemas.openxmlformats.org/drawingml/2006/main">
            <a:pPr algn="l">
              <a:defRPr sz="2325" b="1">
                <a:solidFill>
                  <a:srgbClr val="14242B"/>
                </a:solidFill>
              </a:defRPr>
            </a:pPr>
            <a:r>
              <a:rPr sz="2325" b="1">
                <a:solidFill>
                  <a:srgbClr val="14242B"/>
                </a:solidFill>
              </a:rPr>
              <a:t>12–15 human-reviewed dossiers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E1F84-6A5C-494E-9179-B947E18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6766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8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3AAD6-30ED-4EE6-A724-105E3F6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6B5E"/>
                </a:solidFill>
              </a:defRPr>
            </a:pPr>
            <a:r>
              <a:rPr sz="975" b="1">
                <a:solidFill>
                  <a:srgbClr val="F26B5E"/>
                </a:solidFill>
              </a:rPr>
              <a:t>NOT REQUIRED NOW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C031D-B291-4915-AF96-43DF170E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ANATOMI integration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CRM connection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internal or client data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production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0517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F7D6D-8174-4DD3-A294-4ACA79BC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8DBA0-1C3F-469C-A4E3-8507C437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0E6CB-9C22-4521-9D16-EEDC743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CA8C4-C7F3-4E19-9920-125F5A36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D8D59-E1EE-4293-8E1B-34DEB45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A39E1-2B6A-47DC-8836-FBE4F94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B94B-2770-4000-A64C-8A85353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Will’s five questions have five direct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A2260-3E94-4717-8C6A-276D9B41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The architecture is deliberately bounded where public evidence or model output cannot resolve an internal 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20375-51F3-436B-9859-777F07B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8C606-FE2B-4F4F-B8FD-61E63B9E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67"/>
                </a:solidFill>
              </a:defRPr>
            </a:pPr>
            <a:r>
              <a:rPr sz="1050" b="1">
                <a:solidFill>
                  <a:srgbClr val="006B67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BEDE5-7221-4292-A44E-B6518902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2B"/>
                </a:solidFill>
              </a:defRPr>
            </a:pPr>
            <a:r>
              <a:rPr sz="1575" b="0">
                <a:solidFill>
                  <a:srgbClr val="14242B"/>
                </a:solidFill>
              </a:rPr>
              <a:t>Bounded task portfolio; humans own inclusion, interpretation and distribution.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34804-3A77-4A17-8570-397B6771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7FCB2-1C7F-460D-A269-B373658C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67"/>
                </a:solidFill>
              </a:defRPr>
            </a:pPr>
            <a:r>
              <a:rPr sz="1050" b="1">
                <a:solidFill>
                  <a:srgbClr val="006B67"/>
                </a:solidFill>
              </a:rPr>
              <a:t>ASSUMPTIONS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08F29-E17F-4FCB-8A40-93CCCB1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623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2B"/>
                </a:solidFill>
              </a:defRPr>
            </a:pPr>
            <a:r>
              <a:rPr sz="1575" b="0">
                <a:solidFill>
                  <a:srgbClr val="14242B"/>
                </a:solidFill>
              </a:rPr>
              <a:t>Visible register: basis, status, owner and calibration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6E541-BF08-4B4B-828E-597E6A8E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0EE1C-C878-4A19-957F-2AC44E1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67"/>
                </a:solidFill>
              </a:defRPr>
            </a:pPr>
            <a:r>
              <a:rPr sz="1050" b="1">
                <a:solidFill>
                  <a:srgbClr val="006B67"/>
                </a:solidFill>
              </a:rPr>
              <a:t>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141B1-AD7B-4D0B-A911-3C058749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481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2B"/>
                </a:solidFill>
              </a:defRPr>
            </a:pPr>
            <a:r>
              <a:rPr sz="1575" b="0">
                <a:solidFill>
                  <a:srgbClr val="14242B"/>
                </a:solidFill>
              </a:rPr>
              <a:t>Permission follows every record through acquisition, use and retention.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23953-0D1E-40EB-BC7C-A012B66B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E6163-D347-4580-99F9-F8E204B0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67"/>
                </a:solidFill>
              </a:defRPr>
            </a:pPr>
            <a:r>
              <a:rPr sz="1050" b="1">
                <a:solidFill>
                  <a:srgbClr val="006B67"/>
                </a:solidFill>
              </a:rPr>
              <a:t>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1A5E1-AB0A-4D1A-993F-87DAF448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339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2B"/>
                </a:solidFill>
              </a:defRPr>
            </a:pPr>
            <a:r>
              <a:rPr sz="1575" b="0">
                <a:solidFill>
                  <a:srgbClr val="14242B"/>
                </a:solidFill>
              </a:rPr>
              <a:t>Company-level scope; no PHI; restrictions and escalation built 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6D67F-C8F9-4C21-95DB-D62736CA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0A989-E4DF-4407-A011-D594029B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B67"/>
                </a:solidFill>
              </a:defRPr>
            </a:pPr>
            <a:r>
              <a:rPr sz="1050" b="1">
                <a:solidFill>
                  <a:srgbClr val="006B67"/>
                </a:solidFill>
              </a:rPr>
              <a:t>RELIABILITY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E2302-F6BA-432F-8339-277EE47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197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2B"/>
                </a:solidFill>
              </a:defRPr>
            </a:pPr>
            <a:r>
              <a:rPr sz="1575" b="0">
                <a:solidFill>
                  <a:srgbClr val="14242B"/>
                </a:solidFill>
              </a:rPr>
              <a:t>Evidence tiers and contradiction review prevent synthesis from becoming fact.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D6593-CABD-4F82-B2A5-1B1F9FED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4469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CACAE-405D-4B42-A6FA-B5ACCB3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A3F4A-1520-44D1-A302-71C51E4C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E8E5A-301F-4645-9C63-AAB8D158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PILOT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2739C-2B8C-4E35-9BC0-E8ACA5A9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BE4B5-027D-404C-97C5-34C7B41B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D7D3-C4AC-4454-8B95-E3845BB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DA724-11F1-4CA9-831F-3BE2822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Pilot 1 asks one question—and refuses to answer another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7850E-4A31-4A9F-86D4-DF30234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That separation prevents false precision.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194AB-C35E-4438-BCDE-F256105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ADAC7-5F80-4634-8A33-913BD8E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F0319-9568-4C56-B990-1980CF2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E6D6"/>
                </a:solidFill>
              </a:defRPr>
            </a:pPr>
            <a:r>
              <a:rPr sz="975" b="1">
                <a:solidFill>
                  <a:srgbClr val="A8E6D6"/>
                </a:solidFill>
              </a:rPr>
              <a:t>EXTERNAL 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BAE28-7811-4CC9-87B0-8C7CD467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Which companies appear attractive for Real Chemistry review?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19B6B-8D08-4E7B-A012-FD7FDB6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476250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FAF6A-5A52-4098-8E3E-80A54C68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6B5E"/>
                </a:solidFill>
              </a:defRPr>
            </a:pPr>
            <a:r>
              <a:rPr sz="975" b="1">
                <a:solidFill>
                  <a:srgbClr val="F26B5E"/>
                </a:solidFill>
              </a:rPr>
              <a:t>INTERNAL PURSUIT VIABILITY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69482-3E82-4294-9780-7747FFB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42B"/>
                </a:solidFill>
              </a:defRPr>
            </a:pPr>
            <a:r>
              <a:rPr sz="2325" b="1">
                <a:solidFill>
                  <a:srgbClr val="14242B"/>
                </a:solidFill>
              </a:rPr>
              <a:t>Which attractive companies are plausible internal pursuits?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694DC-E915-4A76-B835-9EEE3C0E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B67"/>
                </a:solidFill>
              </a:defRPr>
            </a:pPr>
            <a:r>
              <a:rPr sz="1350" b="1">
                <a:solidFill>
                  <a:srgbClr val="006B67"/>
                </a:solidFill>
              </a:rPr>
              <a:t>Pilot 1 can build the first independently.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16FF5-8016-4A55-B394-2FA58758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34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5E"/>
                </a:solidFill>
              </a:defRPr>
            </a:pPr>
            <a:r>
              <a:rPr sz="1350" b="1">
                <a:solidFill>
                  <a:srgbClr val="F26B5E"/>
                </a:solidFill>
              </a:rPr>
              <a:t>Only Real Chemistry can establish the second.</a:t>
            </a:r>
          </a:p>
        </p:txBody>
      </p:sp>
    </p:spTree>
    <p:extLst>
      <p:ext uri="{BB962C8B-B14F-4D97-AF65-F5344CB8AC3E}">
        <p14:creationId xmlns:p14="http://schemas.microsoft.com/office/powerpoint/2010/main" val="215196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760A7-C7EC-4834-B8F3-3A71FC08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727AE-EDCC-48A8-8F66-FCA90798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CEC89-CD73-4A55-979B-CD401E1A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55337-0380-473C-99F7-1CD817EB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02ED3-330F-4A9D-B6C2-4DA0311B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B9765-4746-4654-86DC-651248C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4DB39-861D-47B9-97BE-7EC1CC47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Evidence moves through a visible reasoning 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5173C-A4AA-4721-9A0D-5924A2DA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Every transition is inspectable; none is an automatic promotion of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8D43-B62E-4A12-A089-F9E597EF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60A20-4E1B-40B5-BE64-8BA0F6E0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905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AAAEA-67AB-4BDA-A35D-677E1A83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E6D6"/>
                </a:solidFill>
              </a:defRPr>
            </a:pPr>
            <a:r>
              <a:rPr sz="1200" b="1">
                <a:solidFill>
                  <a:srgbClr val="A8E6D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D54EF-11AC-4A07-80BC-662C0D1D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75CC8-FFF5-47EC-BD5D-823D71A3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What was observed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18ADB-1936-4213-AAAF-3266F2E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E"/>
                </a:solidFill>
              </a:defRPr>
            </a:pPr>
            <a:r>
              <a:rPr sz="21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4E390-5A4C-443A-BD18-C8B64FE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1905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D5F0F-A533-48F9-BBCE-4B80539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E"/>
                </a:solidFill>
              </a:defRPr>
            </a:pPr>
            <a:r>
              <a:rPr sz="1200" b="1">
                <a:solidFill>
                  <a:srgbClr val="F26B5E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22B9B-5F72-4BC1-9AEE-B0EC0E95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B67"/>
                </a:solidFill>
              </a:defRPr>
            </a:pPr>
            <a:r>
              <a:rPr sz="1200" b="1">
                <a:solidFill>
                  <a:srgbClr val="006B67"/>
                </a:solidFill>
              </a:rPr>
              <a:t>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707A7-0749-4643-99AE-99B584B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What the record establishes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C266F-E8B1-4F57-B8B7-6204B2C4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8612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E"/>
                </a:solidFill>
              </a:defRPr>
            </a:pPr>
            <a:r>
              <a:rPr sz="21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DB589-334D-425D-BB4A-D4874D50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1905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46E08-0C2F-47ED-BA88-A40164B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E"/>
                </a:solidFill>
              </a:defRPr>
            </a:pPr>
            <a:r>
              <a:rPr sz="1200" b="1">
                <a:solidFill>
                  <a:srgbClr val="F26B5E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910FE-5F82-49B2-A8B7-FFD31B69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86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B67"/>
                </a:solidFill>
              </a:defRPr>
            </a:pPr>
            <a:r>
              <a:rPr sz="1200" b="1">
                <a:solidFill>
                  <a:srgbClr val="006B67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B6A63-485B-4244-B324-B198C9A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90234-08DF-40A1-BB55-6D60270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8612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E"/>
                </a:solidFill>
              </a:defRPr>
            </a:pPr>
            <a:r>
              <a:rPr sz="21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F91BD-5AE2-4877-BA53-C653C7F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14625"/>
            <a:ext cx="1905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03428-B9D4-4F0F-AE90-D6BA2DFD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57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E"/>
                </a:solidFill>
              </a:defRPr>
            </a:pPr>
            <a:r>
              <a:rPr sz="1200" b="1">
                <a:solidFill>
                  <a:srgbClr val="F26B5E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B4E1F-843B-421E-B2D6-AC2ECE7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86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B67"/>
                </a:solidFill>
              </a:defRPr>
            </a:pPr>
            <a:r>
              <a:rPr sz="1200" b="1">
                <a:solidFill>
                  <a:srgbClr val="006B67"/>
                </a:solidFill>
              </a:rPr>
              <a:t>HYPOTHESIS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086C4-7B34-440A-AA42-43642F69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Why it may matter now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D8B59-74E7-4521-AF51-275B55C6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8612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E"/>
                </a:solidFill>
              </a:defRPr>
            </a:pPr>
            <a:r>
              <a:rPr sz="21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EF059-FA9D-4EC3-B728-52F66A9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14625"/>
            <a:ext cx="1905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34C41-AF09-42BF-B3A4-300CAFE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E"/>
                </a:solidFill>
              </a:defRPr>
            </a:pPr>
            <a:r>
              <a:rPr sz="1200" b="1">
                <a:solidFill>
                  <a:srgbClr val="F26B5E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92A70-B126-4FAC-88C6-79E7DA5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86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B67"/>
                </a:solidFill>
              </a:defRPr>
            </a:pPr>
            <a:r>
              <a:rPr sz="1200" b="1">
                <a:solidFill>
                  <a:srgbClr val="006B67"/>
                </a:solidFill>
              </a:rPr>
              <a:t>RELEVANCE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89A52F-97D9-46C0-B834-BDC8460F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Who should inspect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BAC5EE-1B13-41F6-B873-A32FBC27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0"/>
                </a:solidFill>
              </a:defRPr>
            </a:pPr>
            <a:r>
              <a:rPr sz="1275" b="0">
                <a:solidFill>
                  <a:srgbClr val="5C6B70"/>
                </a:solidFill>
              </a:rPr>
              <a:t>Verified fact  •  Corroborated finding  •  Analytical inference  •  Hypothesis / early signal</a:t>
            </a:r>
          </a:p>
        </p:txBody>
      </p:sp>
    </p:spTree>
    <p:extLst>
      <p:ext uri="{BB962C8B-B14F-4D97-AF65-F5344CB8AC3E}">
        <p14:creationId xmlns:p14="http://schemas.microsoft.com/office/powerpoint/2010/main" val="318913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398202-0C29-4E55-8653-95EE68D2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B39FA-F443-4C6E-B679-9ECAFF56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F9AAC-3676-46BF-966E-1F82FABF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08BAB-9D68-4DE1-A3C3-92AA3F04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5470E-FB51-4A52-A795-30D0E63F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F07AF-675A-476C-BEF5-3609C7D8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B922F-12EF-4111-9D49-FEC87577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AI does bounded work. Humans retain authority.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68915-9AAF-4B6D-A359-74B71B8D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Provider-flexible, but never model-indifferent.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A1E35-5FDB-4DD2-9F68-E3935D4E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B6400-99DE-42EE-BE27-BE02BF2C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7B527-A964-4A70-A65F-DD544B78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6D6"/>
                </a:solidFill>
              </a:defRPr>
            </a:pPr>
            <a:r>
              <a:rPr sz="1125" b="1">
                <a:solidFill>
                  <a:srgbClr val="A8E6D6"/>
                </a:solidFill>
              </a:rPr>
              <a:t>AI-ASSISTED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D16F0-546D-48D9-9D55-21D1CC1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8003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Extraction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Entity matching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Comparison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Classification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Contradiction flags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Draft synthesis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88099-693D-4E3B-9483-B911CE46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3375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8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F817B-36FD-4C73-BB37-F6B032A7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67"/>
                </a:solidFill>
              </a:defRPr>
            </a:pPr>
            <a:r>
              <a:rPr sz="1125" b="1">
                <a:solidFill>
                  <a:srgbClr val="006B67"/>
                </a:solidFill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613FC-4001-4F84-9282-F439650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28003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Source registry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Record IDs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Required fields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Weights + date rules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Citation links</a:t>
            </a:r>
          </a:p>
          <a:p xmlns:a="http://schemas.openxmlformats.org/drawingml/2006/main">
            <a:pPr algn="l">
              <a:defRPr sz="1650" b="0">
                <a:solidFill>
                  <a:srgbClr val="14242B"/>
                </a:solidFill>
              </a:defRPr>
            </a:pPr>
            <a:r>
              <a:rPr sz="1650" b="0">
                <a:solidFill>
                  <a:srgbClr val="14242B"/>
                </a:solidFill>
              </a:rPr>
              <a:t>Versioning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D6AFF-070F-4971-98FB-1B694AF3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42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28C6E-2DC4-4F4D-AEE6-07112FBB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6D6"/>
                </a:solidFill>
              </a:defRPr>
            </a:pPr>
            <a:r>
              <a:rPr sz="1125" b="1">
                <a:solidFill>
                  <a:srgbClr val="A8E6D6"/>
                </a:solidFill>
              </a:rPr>
              <a:t>HUMAN-ONLY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4CE49-0AF5-4A12-8D58-27B1B103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86125"/>
            <a:ext cx="28003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Company inclusion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Signal meaning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Score override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Service relevance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Escalation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Final portfolio</a:t>
            </a:r>
          </a:p>
        </p:txBody>
      </p:sp>
    </p:spTree>
    <p:extLst>
      <p:ext uri="{BB962C8B-B14F-4D97-AF65-F5344CB8AC3E}">
        <p14:creationId xmlns:p14="http://schemas.microsoft.com/office/powerpoint/2010/main" val="17062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30EC0-CA23-4648-A473-86167BA3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47BE3-B2D0-472C-94D0-D890ABDF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19284-96B6-409C-B41B-30F7F627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GOVERN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66AF3-8328-4E10-A18B-F23D23F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13BB-0650-43A7-8C2D-ACDE7AF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79E72-AFB8-4073-9388-994BA690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AC2D6-71D8-4C6B-8579-02FDA9E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Permission is a path, not a source 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4AE9E-7E0F-481F-901B-2FE84939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Restrictions travel with the record—and with intelligence derived from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3B4C-8E30-499D-ABF1-5EF9AF03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DADE5-EE9A-4A7A-ABD3-71ACD97E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25EF4-15F9-4250-8A5D-E80135F9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A5999-FC12-4715-AFE2-775A4FF7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B5E"/>
                </a:solidFill>
              </a:defRPr>
            </a:pPr>
            <a:r>
              <a:rPr sz="15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75BED-4FD1-4BF6-AB4A-81A94A7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FE6C0-F35C-4847-87E2-A510EB1F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B4ABD-6AE5-4414-83BD-966B935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B5E"/>
                </a:solidFill>
              </a:defRPr>
            </a:pPr>
            <a:r>
              <a:rPr sz="15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CFF44-1DF1-432D-9E09-59AF106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337A1-ECBC-4710-9EE8-7AB51E84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13D90-4FCE-4B66-9830-51FF47C8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B5E"/>
                </a:solidFill>
              </a:defRPr>
            </a:pPr>
            <a:r>
              <a:rPr sz="15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07574-C23B-4D1E-84C2-0E183A6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7A81C-C7ED-471D-82B6-18BFC676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56F26-AD45-4089-AF3F-ADEDA69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B5E"/>
                </a:solidFill>
              </a:defRPr>
            </a:pPr>
            <a:r>
              <a:rPr sz="15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7A137-30A1-4162-9321-F62B0F9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37793-3098-4250-A2EF-0FB9194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E50F8-8AA8-429C-B102-D9ECFBC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B5E"/>
                </a:solidFill>
              </a:defRPr>
            </a:pPr>
            <a:r>
              <a:rPr sz="15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310DE-D369-4BB2-9333-D5D6A0AF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71580-FC22-4875-A635-3EAA4904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AUDIENCE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0866D-46B0-45E5-8832-780EBE2E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B5E"/>
                </a:solidFill>
              </a:defRPr>
            </a:pPr>
            <a:r>
              <a:rPr sz="1500" b="1">
                <a:solidFill>
                  <a:srgbClr val="F26B5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E7C0D-A3C1-494C-AA31-97AF3A96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38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4A0DDA-FDD9-4C22-9689-1320605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670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EE9390-B494-450F-B11B-4E64F990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10001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6E3A53-40E1-4C9E-AB8B-28B33B9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PILOT 1 DEFAULT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DAEB2-0621-4CB8-A6DB-F3F8823C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42B"/>
                </a:solidFill>
              </a:defRPr>
            </a:pPr>
            <a:r>
              <a:rPr sz="1575" b="0">
                <a:solidFill>
                  <a:srgbClr val="14242B"/>
                </a:solidFill>
              </a:rPr>
              <a:t>Official, first-party and permitted public sources. No PHI. No unapproved scraping. No restricted licensed-source ingestion.</a:t>
            </a:r>
          </a:p>
        </p:txBody>
      </p:sp>
    </p:spTree>
    <p:extLst>
      <p:ext uri="{BB962C8B-B14F-4D97-AF65-F5344CB8AC3E}">
        <p14:creationId xmlns:p14="http://schemas.microsoft.com/office/powerpoint/2010/main" val="1779834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9D9BA-88D6-4BA9-A4A6-C6C00CA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9705A-29C6-40C4-9514-8749D1C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A99FC-44F1-427C-8053-C763A734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E399D-F38E-4106-B6CB-27D9CFD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D83CA-1982-412D-9A8A-E82AA5F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6708C-FBEF-4F7F-A411-810D7B61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6BE5A-6B52-4522-AFAC-0479859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The candidate white space is an operating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F9A49-0C41-499C-9837-A84468E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The public record supports the ingredients. It does not publicly establish this exact upstream growth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9EF52-AE09-4E87-A496-1AE5C1FD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031C0-3DD0-412A-8AB3-329C9F3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2956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95449-2AAE-4804-96DA-2C1BE55F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CONFIRMED INGREDIENTS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6D43E-FD13-44C0-8F34-ED1CCB3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ANATOMI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Analytics &amp; Insights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HealthGEO + ReputAI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Medical + communications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Access + media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Growth leadership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5E0D-2C82-4E43-98A6-5A4EB26C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32956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37842-AE75-4CCE-BAC2-CA9F66E9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6B5E"/>
                </a:solidFill>
              </a:defRPr>
            </a:pPr>
            <a:r>
              <a:rPr sz="975" b="1">
                <a:solidFill>
                  <a:srgbClr val="F26B5E"/>
                </a:solidFill>
              </a:rPr>
              <a:t>NOT PUBLICLY EVIDENCED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89F1A-E96B-450A-94BB-6E66D96A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One prospect universe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Service-need mapping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Internal viability layer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Cross-practice routing</a:t>
            </a:r>
          </a:p>
          <a:p xmlns:a="http://schemas.openxmlformats.org/drawingml/2006/main">
            <a:pPr algn="l">
              <a:defRPr sz="1500" b="0">
                <a:solidFill>
                  <a:srgbClr val="14242B"/>
                </a:solidFill>
              </a:defRPr>
            </a:pPr>
            <a:r>
              <a:rPr sz="1500" b="0">
                <a:solidFill>
                  <a:srgbClr val="14242B"/>
                </a:solidFill>
              </a:rPr>
              <a:t>Outcome learning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0CDB9-A9E9-49C0-BCD8-6432F0B2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32766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35D0A-DBE7-4E49-A708-013C727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E6D6"/>
                </a:solidFill>
              </a:defRPr>
            </a:pPr>
            <a:r>
              <a:rPr sz="975" b="1">
                <a:solidFill>
                  <a:srgbClr val="A8E6D6"/>
                </a:solidFill>
              </a:rPr>
              <a:t>PILOT 1 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40CB4-C6E5-4756-A9FC-5DDA5D98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Build the external opportunity map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Let Real Chemistry decide whether and how to calibrate it.</a:t>
            </a:r>
          </a:p>
        </p:txBody>
      </p:sp>
    </p:spTree>
    <p:extLst>
      <p:ext uri="{BB962C8B-B14F-4D97-AF65-F5344CB8AC3E}">
        <p14:creationId xmlns:p14="http://schemas.microsoft.com/office/powerpoint/2010/main" val="443234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95776-F9D9-4F88-B8A9-6BD5B048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9BE5D-ADBE-482E-B621-F9689B4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2D229-FD06-4A66-90BF-6BB067D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PROGRESSION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87606-1D95-49C3-A106-FC1835F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F0AF5-7DD2-4839-B8EF-679AFB1C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46940-7CAB-47A1-8656-62276D7B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8B45B-9202-4F36-8ED8-B1C5F74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Discover first. Integration remains conditional.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E86AB-6A37-484A-90B3-34CA3AF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The method becomes more internal only after it proves useful.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4CA32-7929-47EF-9F13-AC77FE96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BB479-2CF5-465F-B9AF-1DDD9605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9D646-22D1-42FC-BB03-E85B0947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060D3-6914-4132-BA66-FF9DA0B7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1C809-0D46-46F2-BAD7-65547CF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2B"/>
                </a:solidFill>
              </a:defRPr>
            </a:pPr>
            <a:r>
              <a:rPr sz="1800" b="1">
                <a:solidFill>
                  <a:srgbClr val="14242B"/>
                </a:solidFill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D199E-B874-4503-A40E-3611D77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Public evidence</a:t>
            </a:r>
          </a:p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External score</a:t>
            </a:r>
          </a:p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12–15 dossiers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EC5E9-4BDE-4993-8D0B-534C70A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2B"/>
                </a:solidFill>
              </a:defRPr>
            </a:pPr>
            <a:r>
              <a:rPr sz="1200" b="1">
                <a:solidFill>
                  <a:srgbClr val="14242B"/>
                </a:solidFill>
              </a:rPr>
              <a:t>Which companies warrant review?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7BDCA-E5CC-4AC4-BADD-C583A8EB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F9AEF-2BF1-4D0C-82C1-23D8E6B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BB454-17EE-4029-A17F-5045D29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23A"/>
                </a:solidFill>
              </a:defRPr>
            </a:pPr>
            <a:r>
              <a:rPr sz="900" b="1">
                <a:solidFill>
                  <a:srgbClr val="D6A23A"/>
                </a:solidFill>
              </a:rPr>
              <a:t>NEXT / IF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05C52-6895-4A45-85E8-49D18EF4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194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2B"/>
                </a:solidFill>
              </a:defRPr>
            </a:pPr>
            <a:r>
              <a:rPr sz="1800" b="1">
                <a:solidFill>
                  <a:srgbClr val="14242B"/>
                </a:solidFill>
              </a:rPr>
              <a:t>QUALIFY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68B25-1A22-4BE9-B68C-94BE2998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Clients + conflicts</a:t>
            </a:r>
          </a:p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Ownership + thresholds</a:t>
            </a:r>
          </a:p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Internal viability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3D441-F87B-4207-934E-EDFB2DF8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96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2B"/>
                </a:solidFill>
              </a:defRPr>
            </a:pPr>
            <a:r>
              <a:rPr sz="1200" b="1">
                <a:solidFill>
                  <a:srgbClr val="14242B"/>
                </a:solidFill>
              </a:rPr>
              <a:t>Which are plausible pursuits?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B245C-2FF3-4B54-BA0E-B08B63F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6C56F-DC54-4871-B1B8-3F8F6EC4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3D47E-F6C5-439E-8732-806A75B3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LATER / IF OWNED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4BD81-9426-499E-BD1D-91E2A522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2B"/>
                </a:solidFill>
              </a:defRPr>
            </a:pPr>
            <a:r>
              <a:rPr sz="1800" b="1">
                <a:solidFill>
                  <a:srgbClr val="14242B"/>
                </a:solidFill>
              </a:rPr>
              <a:t>INSTITUTIONALIZE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6C626-AC5A-49E2-829B-B107B6E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Monitoring + queues</a:t>
            </a:r>
          </a:p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CRM + approved data</a:t>
            </a:r>
          </a:p>
          <a:p xmlns:a="http://schemas.openxmlformats.org/drawingml/2006/main">
            <a:pPr algn="l">
              <a:defRPr sz="1500" b="0">
                <a:solidFill>
                  <a:srgbClr val="5C6B70"/>
                </a:solidFill>
              </a:defRPr>
            </a:pPr>
            <a:r>
              <a:rPr sz="1500" b="0">
                <a:solidFill>
                  <a:srgbClr val="5C6B70"/>
                </a:solidFill>
              </a:rPr>
              <a:t>Outcome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BCF8C-F858-43D0-9B5E-FDD9A985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196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42B"/>
                </a:solidFill>
              </a:defRPr>
            </a:pPr>
            <a:r>
              <a:rPr sz="1200" b="1">
                <a:solidFill>
                  <a:srgbClr val="14242B"/>
                </a:solidFill>
              </a:rPr>
              <a:t>Should this become persistent?</a:t>
            </a:r>
          </a:p>
        </p:txBody>
      </p:sp>
    </p:spTree>
    <p:extLst>
      <p:ext uri="{BB962C8B-B14F-4D97-AF65-F5344CB8AC3E}">
        <p14:creationId xmlns:p14="http://schemas.microsoft.com/office/powerpoint/2010/main" val="564759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5510F-ECFC-4070-8EEC-141D3588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84D21-B18C-4EF0-881B-C553CD5F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883BF-D45E-4178-8AE4-4AA5069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EBDB3-BCF9-47FD-BA3B-C0E4F226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46A2A-E50D-46A8-9A86-D1B37F29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C85BD-6F0A-4B7C-B95E-B6629FF5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D3ACF-010A-41E0-8DE8-2FA5D47E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Eight weeks from scope to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2AA52-DBE2-4913-8947-4CAF7B0F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The pilot is large enough to expose patterns and bounded enough to evaluate.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957D4-561C-456E-B9CD-B46A1E0B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A6E25-E1E1-477E-84C8-26D8FE2B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148FF-7842-435D-97B9-7698D9F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8E6D6"/>
                </a:solidFill>
              </a:defRPr>
            </a:pPr>
            <a:r>
              <a:rPr sz="2325" b="1">
                <a:solidFill>
                  <a:srgbClr val="A8E6D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3B9B6-2EF3-4B23-AE2F-24C47082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83E05-ECE7-4D7D-AEAC-E45903E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E8883-E680-4D05-86F7-6B19C77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8BF06-5F96-41FA-BDAA-D772711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7B3B0-2490-47B0-BE0F-752867D0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Taxonomy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284E7-075E-4701-B989-8E66BEF6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32288-FDE7-453E-856F-C9DF95C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576F5-D25E-4335-8C63-B165C92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F64D1-7B88-4123-BAFD-7E72F1E6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Universe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62727-D57F-4E8F-B3D3-415A1C1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CE28E-553B-41F8-B0AD-E26214E2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F8372-C3FB-40DF-8F1A-2E08032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AC1C3-27AC-4722-B507-37362742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C1D88-243C-431C-9D20-2E4C341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8F528-FC73-4B34-B895-139885C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FCAF2A-6383-4BBB-B2D8-00BC254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297977-9B0E-4B8D-9E95-5CBDD46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0A71C9-5AD6-47F1-B00C-CC73D23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D94E6-C18E-4888-98C2-837E7C72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7C46C-8F67-4611-A4CF-84F06E9E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EB7592-3552-48F8-9A68-8DDC6AF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Dossiers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857DC-6FC2-4EFA-AAE9-2E86D0CC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35B642-BB34-4EDD-B6EA-5773B9EC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A83C2-FDE2-4B12-97B9-D7D44C7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4C48C-CF58-4C4D-BF96-527FF96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Portfolio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3EBA89-CACF-424B-8B11-DB156FEA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433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237AC2-54E0-4F84-AB63-92820B16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1219200" cy="142875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227BC3-4B62-427D-AC01-EED6451D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003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B5E"/>
                </a:solidFill>
              </a:defRPr>
            </a:pPr>
            <a:r>
              <a:rPr sz="2325" b="1">
                <a:solidFill>
                  <a:srgbClr val="F26B5E"/>
                </a:solidFill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C35BF-3E2B-4A65-BEBD-2019602A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19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2B"/>
                </a:solidFill>
              </a:defRPr>
            </a:pPr>
            <a:r>
              <a:rPr sz="1125" b="1">
                <a:solidFill>
                  <a:srgbClr val="14242B"/>
                </a:solidFill>
              </a:rPr>
              <a:t>Handoff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B43715-E928-4D8E-9274-CEE54C68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DE3E18-ACBB-442A-B010-F5FB4DDF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WEEKLY MEMO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306699-66C6-4FCF-A072-3F25A6C3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42B"/>
                </a:solidFill>
              </a:defRPr>
            </a:pPr>
            <a:r>
              <a:rPr sz="1425" b="0">
                <a:solidFill>
                  <a:srgbClr val="14242B"/>
                </a:solidFill>
              </a:rPr>
              <a:t>What changed • which sources were used • what is blocked • which assumptions need review</a:t>
            </a:r>
          </a:p>
        </p:txBody>
      </p:sp>
    </p:spTree>
    <p:extLst>
      <p:ext uri="{BB962C8B-B14F-4D97-AF65-F5344CB8AC3E}">
        <p14:creationId xmlns:p14="http://schemas.microsoft.com/office/powerpoint/2010/main" val="599762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8F0BF-3047-4DB7-939A-5AF7D358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5A537-6639-46D2-BEC1-A7E69B0C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E9623-3D29-472A-B4C8-57892ED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00271-47BF-48E8-BEA9-9F439289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7770-AAC0-4B67-8542-8D429D7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36AD5-0422-4A05-AD82-904E8CCB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4219A-0142-4FF1-8F60-E672AC3A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A priority dossier must scan in two minutes—and survive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DF999-9D01-4E6D-9D9E-7306C47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The output is useful only if the reasoning and restrictions remain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65157-F5F2-4782-8D92-FF41652F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6C00F-61C9-47BA-B18C-70A436A1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DF41C-66F0-4B30-8093-2A9B283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E6D6"/>
                </a:solidFill>
              </a:defRPr>
            </a:pPr>
            <a:r>
              <a:rPr sz="900" b="1">
                <a:solidFill>
                  <a:srgbClr val="A8E6D6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EE958-C1D5-45C5-A540-147FD4C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ACCOUNT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9E811-9E24-4679-8F49-1D64741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908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F3303-5CFA-4EC9-8A0D-B3A479ED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3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8754C-FDFA-4B87-A0A8-82F316E9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05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EVIDENCE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297DD-E949-43D2-883F-C5A52586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908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DA9F7-9EAB-47BC-B8B5-F43BC16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3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608BB-7382-4B0A-84E9-4F8A0E26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CLINICAL + REGULATORY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A0163-5654-4D22-A1B0-DE99724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DAADC-B993-4FD1-8B1C-FAD536E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3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F2E36-A594-4B76-A83C-6DEEFA8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CORPORATE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17744-1408-4E40-98BF-3C6EFE03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F218A-B2AF-457C-8129-EE8878E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3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42CEE-1397-43D2-9CEB-C516FB7B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READINESS SIGNALS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24DA5-E8F8-466F-B760-F02660A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D507E-13F0-48E3-9B22-23EBB6BA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DB3EA-6416-46DE-A6C1-9DE1E35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NARRATIVE + REPUTATION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62472-1799-486F-B49D-C66F3DE8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433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F9F51-CF36-41BA-8BD6-727F134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86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E8A0C-CAB4-4EB1-ACF8-6B58714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57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RC RELEVANCE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88BA76-74E6-48C8-BA79-573CF8EC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433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C1CD2B-A5CE-4886-BE75-29C91A8C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86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400AD-3811-409F-BBFE-C9007CA4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57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PERMISSION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12C5B7-C38F-42CC-8B8C-F637347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76982-E312-49F6-AD73-F5815AD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6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C91060-BB37-42E1-8A06-5EDBE7F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HUMAN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6B392D-10E5-4CD8-B85F-7CA542E5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ACC0B9-E022-4272-94BE-45E05758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86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E"/>
                </a:solidFill>
              </a:defRPr>
            </a:pPr>
            <a:r>
              <a:rPr sz="900" b="1">
                <a:solidFill>
                  <a:srgbClr val="F26B5E"/>
                </a:solidFill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8144BC-214D-4D9F-9C18-EC407743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42B"/>
                </a:solidFill>
              </a:defRPr>
            </a:pPr>
            <a:r>
              <a:rPr sz="975" b="1">
                <a:solidFill>
                  <a:srgbClr val="14242B"/>
                </a:solidFill>
              </a:rP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4160219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D3EB7-40B0-4662-B1BB-AD47F82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C38AB-0942-4205-A180-62B91BD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67"/>
                </a:solidFill>
              </a:defRPr>
            </a:pPr>
            <a:r>
              <a:rPr sz="900" b="1">
                <a:solidFill>
                  <a:srgbClr val="006B67"/>
                </a:solidFill>
              </a:rPr>
              <a:t>INFLECTION 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1E4C9-A22D-4217-AFBD-9EAC300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B70"/>
                </a:solidFill>
              </a:defRPr>
            </a:pPr>
            <a:r>
              <a:rPr sz="825" b="1">
                <a:solidFill>
                  <a:srgbClr val="5C6B70"/>
                </a:solidFill>
              </a:rPr>
              <a:t>EVALUATE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A3614-4ECF-4255-B078-1BEC30AA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256F0-83A6-41ED-83C2-FFC1979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70"/>
                </a:solidFill>
              </a:defRPr>
            </a:pPr>
            <a:r>
              <a:rPr sz="675" b="0">
                <a:solidFill>
                  <a:srgbClr val="5C6B70"/>
                </a:solidFill>
              </a:rPr>
              <a:t>RAYVEN-NIKKITA COLLINS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A3ED2-4046-4899-A5E4-D14C0C3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C6B70"/>
                </a:solidFill>
              </a:defRPr>
            </a:pPr>
            <a:r>
              <a:rPr sz="675" b="1">
                <a:solidFill>
                  <a:srgbClr val="5C6B70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E7F3B-9463-4D66-A47F-9ABDAA6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42B"/>
                </a:solidFill>
              </a:defRPr>
            </a:pPr>
            <a:r>
              <a:rPr sz="3150" b="1">
                <a:solidFill>
                  <a:srgbClr val="14242B"/>
                </a:solidFill>
              </a:rPr>
              <a:t>The pilot proves usefulness—not inevitability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64C47-972E-46D1-8006-243DDDE7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0"/>
                </a:solidFill>
              </a:defRPr>
            </a:pPr>
            <a:r>
              <a:rPr sz="1425" b="0">
                <a:solidFill>
                  <a:srgbClr val="5C6B70"/>
                </a:solidFill>
              </a:rPr>
              <a:t>Success is better internal review, not a promise that every ranked company becomes an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91B7B-2BB7-4310-9BF9-48BD317E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AA417-5054-4858-B68F-4889D30D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981200" cy="2286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008A3-2492-4A48-B2D9-27435117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E6D6"/>
                </a:solidFill>
              </a:defRPr>
            </a:pPr>
            <a:r>
              <a:rPr sz="975" b="1">
                <a:solidFill>
                  <a:srgbClr val="A8E6D6"/>
                </a:solidFill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F393D-39B3-4A15-B7C0-2520243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Citation accuracy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Coverage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Staleness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Contradictions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B9B75-7617-4FAA-8D47-226BA90A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981200" cy="2286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531B0-59D6-4BD5-A29C-A024DF13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52B5E-919E-441E-BEF2-42F3D15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Usefulness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False positives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Advance/defer rationale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94E97-6677-4EB7-AC70-441FA7B0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14625"/>
            <a:ext cx="1981200" cy="2286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73C1C-B4B3-4F77-8347-58AF95E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COMMERCIAL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33895-6341-45F9-9B27-B75665BC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81375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Review-worthy accounts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Service-fit clarity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Timing insight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BFFC3-5290-4272-A501-80997998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14625"/>
            <a:ext cx="1981200" cy="2286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7F064-5DD5-47B5-A1FC-2F0E3E1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1F135-23A7-491C-8A14-522CA864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Permissions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Restricted-source exclusion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Audit completeness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735DF-7EFF-4445-9D38-841C089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981200" cy="2286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B43FA-388F-4EB4-90AC-30066408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67"/>
                </a:solidFill>
              </a:defRPr>
            </a:pPr>
            <a:r>
              <a:rPr sz="975" b="1">
                <a:solidFill>
                  <a:srgbClr val="006B67"/>
                </a:solidFill>
              </a:rPr>
              <a:t>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331A7-CC9D-4186-9786-CC0706F8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81375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Which signals predicted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interest, deferral,</a:t>
            </a:r>
          </a:p>
          <a:p xmlns:a="http://schemas.openxmlformats.org/drawingml/2006/main">
            <a:pPr algn="l">
              <a:defRPr sz="1350" b="0">
                <a:solidFill>
                  <a:srgbClr val="14242B"/>
                </a:solidFill>
              </a:defRPr>
            </a:pPr>
            <a:r>
              <a:rPr sz="1350" b="0">
                <a:solidFill>
                  <a:srgbClr val="14242B"/>
                </a:solidFill>
              </a:rPr>
              <a:t>pursuit or rejection</a:t>
            </a:r>
          </a:p>
        </p:txBody>
      </p:sp>
    </p:spTree>
    <p:extLst>
      <p:ext uri="{BB962C8B-B14F-4D97-AF65-F5344CB8AC3E}">
        <p14:creationId xmlns:p14="http://schemas.microsoft.com/office/powerpoint/2010/main" val="1487116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F584CD-2981-41E9-8194-4F34800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AC8FD-1846-4778-8833-0EF5FB2E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E6D6"/>
                </a:solidFill>
              </a:defRPr>
            </a:pPr>
            <a:r>
              <a:rPr sz="1050" b="1">
                <a:solidFill>
                  <a:srgbClr val="A8E6D6"/>
                </a:solidFill>
              </a:rPr>
              <a:t>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DA469-4522-4DDC-8DE0-B1B849EE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Approve Pilot 1 scope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and its minimal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0413-2215-44AA-B340-9B591CA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68670-9070-4AEA-AC52-F354B799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7C5D2-D93B-4E1E-BCAE-4D5DA47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INTENDED READER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3AD67-BFC5-4544-A95E-391CCF4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PUBLIC SERVICE PRIORITIES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2AC52-60FC-47E3-ABBF-1C195DB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SUCCESS STANDARD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573CE-1AF8-4063-8EC7-1E1E590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429000" cy="3714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00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91D53-182E-4712-AE0F-B981AD1C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6D6"/>
                </a:solidFill>
              </a:defRPr>
            </a:pPr>
            <a:r>
              <a:rPr sz="1125" b="1">
                <a:solidFill>
                  <a:srgbClr val="A8E6D6"/>
                </a:solidFill>
              </a:rPr>
              <a:t>Reserve for later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133E5-1848-475D-8329-0E29ACF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ANATOMI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CRM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licensed-source enrichment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internal viability scoring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production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6285C-9574-4A68-9C17-5EC59C34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E6D6"/>
                </a:solidFill>
              </a:defRPr>
            </a:pPr>
            <a:r>
              <a:rPr sz="1650" b="1">
                <a:solidFill>
                  <a:srgbClr val="A8E6D6"/>
                </a:solidFill>
              </a:rPr>
              <a:t>Run Discover first.</a:t>
            </a:r>
          </a:p>
        </p:txBody>
      </p:sp>
    </p:spTree>
    <p:extLst>
      <p:ext uri="{BB962C8B-B14F-4D97-AF65-F5344CB8AC3E}">
        <p14:creationId xmlns:p14="http://schemas.microsoft.com/office/powerpoint/2010/main" val="1796498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2026-07-28T17:49:44.7280000Z</dcterms:created>
  <dcterms:modified xsi:type="dcterms:W3CDTF">2026-07-28T17:49:44.7280000Z</dcterms:modified>
</coreProperties>
</file>